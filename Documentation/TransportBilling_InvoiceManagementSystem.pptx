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" name="Google Shape;5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ceec0192c1_6_10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g3ceec0192c1_6_100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g3ceec0192c1_6_100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ceec0192c1_6_123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g3ceec0192c1_6_123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g3ceec0192c1_6_123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ceec0192c1_6_15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g3ceec0192c1_6_155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g3ceec0192c1_6_155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ceec0192c1_6_17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g3ceec0192c1_6_176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g3ceec0192c1_6_176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" name="Google Shape;16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7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7.png"/><Relationship Id="rId5" Type="http://schemas.openxmlformats.org/officeDocument/2006/relationships/image" Target="../media/image2.png"/><Relationship Id="rId6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1.png"/><Relationship Id="rId5" Type="http://schemas.openxmlformats.org/officeDocument/2006/relationships/image" Target="../media/image14.png"/><Relationship Id="rId6" Type="http://schemas.openxmlformats.org/officeDocument/2006/relationships/image" Target="../media/image7.png"/><Relationship Id="rId7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3.png"/><Relationship Id="rId5" Type="http://schemas.openxmlformats.org/officeDocument/2006/relationships/image" Target="../media/image7.png"/><Relationship Id="rId6" Type="http://schemas.openxmlformats.org/officeDocument/2006/relationships/image" Target="../media/image1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81B50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idx="1" type="subTitle"/>
          </p:nvPr>
        </p:nvSpPr>
        <p:spPr>
          <a:xfrm>
            <a:off x="311700" y="2834125"/>
            <a:ext cx="8520600" cy="10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r>
              <a:rPr b="1" lang="en-GB" sz="3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Transport Billing &amp;</a:t>
            </a:r>
            <a:endParaRPr sz="3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r>
              <a:rPr b="1" lang="en-GB" sz="3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Invoice Management System</a:t>
            </a:r>
            <a:endParaRPr sz="3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336538"/>
              <a:buNone/>
            </a:pPr>
            <a:r>
              <a:rPr b="1" lang="en-GB" sz="832">
                <a:solidFill>
                  <a:schemeClr val="lt1"/>
                </a:solidFill>
              </a:rPr>
              <a:t>Ayush Kumar Singh</a:t>
            </a:r>
            <a:endParaRPr b="1" sz="832">
              <a:solidFill>
                <a:schemeClr val="lt1"/>
              </a:solidFill>
            </a:endParaRPr>
          </a:p>
        </p:txBody>
      </p:sp>
      <p:pic>
        <p:nvPicPr>
          <p:cNvPr id="56" name="Google Shape;56;p14" title="download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62238" y="942350"/>
            <a:ext cx="3819525" cy="120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-GB">
                <a:solidFill>
                  <a:srgbClr val="A81B50"/>
                </a:solidFill>
              </a:rPr>
              <a:t>Index</a:t>
            </a:r>
            <a:endParaRPr b="1">
              <a:solidFill>
                <a:srgbClr val="A81B50"/>
              </a:solidFill>
            </a:endParaRPr>
          </a:p>
        </p:txBody>
      </p:sp>
      <p:sp>
        <p:nvSpPr>
          <p:cNvPr id="62" name="Google Shape;62;p15"/>
          <p:cNvSpPr txBox="1"/>
          <p:nvPr>
            <p:ph idx="1" type="body"/>
          </p:nvPr>
        </p:nvSpPr>
        <p:spPr>
          <a:xfrm>
            <a:off x="311700" y="1152475"/>
            <a:ext cx="8520600" cy="35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-GB">
                <a:solidFill>
                  <a:schemeClr val="dk1"/>
                </a:solidFill>
              </a:rPr>
              <a:t>Problem Statement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-GB">
                <a:solidFill>
                  <a:schemeClr val="dk1"/>
                </a:solidFill>
              </a:rPr>
              <a:t>Our Solution — C++ System Design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-GB">
                <a:solidFill>
                  <a:schemeClr val="dk1"/>
                </a:solidFill>
              </a:rPr>
              <a:t>Working: Methods &amp; Implementation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-GB">
                <a:solidFill>
                  <a:schemeClr val="dk1"/>
                </a:solidFill>
              </a:rPr>
              <a:t>Conclusion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63" name="Google Shape;63;p15" title="images.jpe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14199" y="3992274"/>
            <a:ext cx="918100" cy="91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/>
          <p:nvPr/>
        </p:nvSpPr>
        <p:spPr>
          <a:xfrm>
            <a:off x="0" y="0"/>
            <a:ext cx="9144000" cy="822900"/>
          </a:xfrm>
          <a:prstGeom prst="rect">
            <a:avLst/>
          </a:prstGeom>
          <a:solidFill>
            <a:srgbClr val="8C1B45"/>
          </a:solidFill>
          <a:ln cap="flat" cmpd="sng" w="12700">
            <a:solidFill>
              <a:srgbClr val="8C1B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0" name="Google Shape;7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137160"/>
            <a:ext cx="173736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6"/>
          <p:cNvSpPr/>
          <p:nvPr/>
        </p:nvSpPr>
        <p:spPr>
          <a:xfrm>
            <a:off x="2103120" y="137160"/>
            <a:ext cx="64008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GB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Problem Statement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16"/>
          <p:cNvSpPr/>
          <p:nvPr/>
        </p:nvSpPr>
        <p:spPr>
          <a:xfrm>
            <a:off x="274320" y="914400"/>
            <a:ext cx="4114800" cy="3474600"/>
          </a:xfrm>
          <a:prstGeom prst="rect">
            <a:avLst/>
          </a:prstGeom>
          <a:solidFill>
            <a:srgbClr val="F5E8ED"/>
          </a:solidFill>
          <a:ln cap="flat" cmpd="sng" w="12700">
            <a:solidFill>
              <a:srgbClr val="E8C5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6"/>
          <p:cNvSpPr/>
          <p:nvPr/>
        </p:nvSpPr>
        <p:spPr>
          <a:xfrm>
            <a:off x="365760" y="960120"/>
            <a:ext cx="3931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1B45"/>
              </a:buClr>
              <a:buSzPts val="1400"/>
              <a:buFont typeface="Calibri"/>
              <a:buNone/>
            </a:pPr>
            <a:r>
              <a:rPr b="1" i="0" lang="en-GB" sz="1400" u="none" cap="none" strike="noStrike">
                <a:solidFill>
                  <a:srgbClr val="8C1B45"/>
                </a:solidFill>
                <a:latin typeface="Calibri"/>
                <a:ea typeface="Calibri"/>
                <a:cs typeface="Calibri"/>
                <a:sym typeface="Calibri"/>
              </a:rPr>
              <a:t>The Problem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16"/>
          <p:cNvSpPr/>
          <p:nvPr/>
        </p:nvSpPr>
        <p:spPr>
          <a:xfrm>
            <a:off x="411480" y="1371600"/>
            <a:ext cx="3886200" cy="28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300"/>
              <a:buFont typeface="Calibri"/>
              <a:buChar char="•"/>
            </a:pPr>
            <a:r>
              <a:rPr b="0" i="0" lang="en-GB" sz="13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Manual billing is slow &amp; error-prone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222222"/>
              </a:buClr>
              <a:buSzPts val="1300"/>
              <a:buFont typeface="Calibri"/>
              <a:buChar char="•"/>
            </a:pPr>
            <a:r>
              <a:rPr b="0" i="0" lang="en-GB" sz="13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No automated GST (18%) calculation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222222"/>
              </a:buClr>
              <a:buSzPts val="1300"/>
              <a:buFont typeface="Calibri"/>
              <a:buChar char="•"/>
            </a:pPr>
            <a:r>
              <a:rPr b="0" i="0" lang="en-GB" sz="13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Lost invoices — no file persistence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222222"/>
              </a:buClr>
              <a:buSzPts val="1300"/>
              <a:buFont typeface="Calibri"/>
              <a:buChar char="•"/>
            </a:pPr>
            <a:r>
              <a:rPr b="0" i="0" lang="en-GB" sz="13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No payment tracking or history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222222"/>
              </a:buClr>
              <a:buSzPts val="1300"/>
              <a:buFont typeface="Calibri"/>
              <a:buChar char="•"/>
            </a:pPr>
            <a:r>
              <a:rPr b="0" i="0" lang="en-GB" sz="13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Crashes on invalid numeric input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16"/>
          <p:cNvSpPr/>
          <p:nvPr/>
        </p:nvSpPr>
        <p:spPr>
          <a:xfrm>
            <a:off x="4663440" y="960120"/>
            <a:ext cx="4114800" cy="1051500"/>
          </a:xfrm>
          <a:prstGeom prst="rect">
            <a:avLst/>
          </a:prstGeom>
          <a:solidFill>
            <a:srgbClr val="8C1B45"/>
          </a:solidFill>
          <a:ln cap="flat" cmpd="sng" w="12700">
            <a:solidFill>
              <a:srgbClr val="8C1B45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6" name="Google Shape;7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00600" y="123444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6"/>
          <p:cNvSpPr/>
          <p:nvPr/>
        </p:nvSpPr>
        <p:spPr>
          <a:xfrm>
            <a:off x="5257800" y="1033272"/>
            <a:ext cx="3383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GB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Manual Errors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16"/>
          <p:cNvSpPr/>
          <p:nvPr/>
        </p:nvSpPr>
        <p:spPr>
          <a:xfrm>
            <a:off x="5257800" y="1353312"/>
            <a:ext cx="33834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D0DF"/>
              </a:buClr>
              <a:buSzPts val="1100"/>
              <a:buFont typeface="Calibri"/>
              <a:buNone/>
            </a:pPr>
            <a:r>
              <a:rPr b="0" i="0" lang="en-GB" sz="1100" u="none" cap="none" strike="noStrike">
                <a:solidFill>
                  <a:srgbClr val="F5D0DF"/>
                </a:solidFill>
                <a:latin typeface="Calibri"/>
                <a:ea typeface="Calibri"/>
                <a:cs typeface="Calibri"/>
                <a:sym typeface="Calibri"/>
              </a:rPr>
              <a:t>Calculation mistakes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D0DF"/>
              </a:buClr>
              <a:buSzPts val="1100"/>
              <a:buFont typeface="Calibri"/>
              <a:buNone/>
            </a:pPr>
            <a:r>
              <a:rPr b="0" i="0" lang="en-GB" sz="1100" u="none" cap="none" strike="noStrike">
                <a:solidFill>
                  <a:srgbClr val="F5D0DF"/>
                </a:solidFill>
                <a:latin typeface="Calibri"/>
                <a:ea typeface="Calibri"/>
                <a:cs typeface="Calibri"/>
                <a:sym typeface="Calibri"/>
              </a:rPr>
              <a:t>every session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16"/>
          <p:cNvSpPr/>
          <p:nvPr/>
        </p:nvSpPr>
        <p:spPr>
          <a:xfrm>
            <a:off x="4663440" y="2148840"/>
            <a:ext cx="4114800" cy="1051500"/>
          </a:xfrm>
          <a:prstGeom prst="rect">
            <a:avLst/>
          </a:prstGeom>
          <a:solidFill>
            <a:srgbClr val="8C1B45"/>
          </a:solidFill>
          <a:ln cap="flat" cmpd="sng" w="12700">
            <a:solidFill>
              <a:srgbClr val="8C1B45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0" name="Google Shape;80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00600" y="242316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6"/>
          <p:cNvSpPr/>
          <p:nvPr/>
        </p:nvSpPr>
        <p:spPr>
          <a:xfrm>
            <a:off x="5257800" y="2221992"/>
            <a:ext cx="3383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GB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 Records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16"/>
          <p:cNvSpPr/>
          <p:nvPr/>
        </p:nvSpPr>
        <p:spPr>
          <a:xfrm>
            <a:off x="5257800" y="2542032"/>
            <a:ext cx="33834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D0DF"/>
              </a:buClr>
              <a:buSzPts val="1100"/>
              <a:buFont typeface="Calibri"/>
              <a:buNone/>
            </a:pPr>
            <a:r>
              <a:rPr b="0" i="0" lang="en-GB" sz="1100" u="none" cap="none" strike="noStrike">
                <a:solidFill>
                  <a:srgbClr val="F5D0DF"/>
                </a:solidFill>
                <a:latin typeface="Calibri"/>
                <a:ea typeface="Calibri"/>
                <a:cs typeface="Calibri"/>
                <a:sym typeface="Calibri"/>
              </a:rPr>
              <a:t>Invoices lost after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D0DF"/>
              </a:buClr>
              <a:buSzPts val="1100"/>
              <a:buFont typeface="Calibri"/>
              <a:buNone/>
            </a:pPr>
            <a:r>
              <a:rPr b="0" i="0" lang="en-GB" sz="1100" u="none" cap="none" strike="noStrike">
                <a:solidFill>
                  <a:srgbClr val="F5D0DF"/>
                </a:solidFill>
                <a:latin typeface="Calibri"/>
                <a:ea typeface="Calibri"/>
                <a:cs typeface="Calibri"/>
                <a:sym typeface="Calibri"/>
              </a:rPr>
              <a:t>each run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6"/>
          <p:cNvSpPr/>
          <p:nvPr/>
        </p:nvSpPr>
        <p:spPr>
          <a:xfrm>
            <a:off x="4663440" y="3337560"/>
            <a:ext cx="4114800" cy="1051500"/>
          </a:xfrm>
          <a:prstGeom prst="rect">
            <a:avLst/>
          </a:prstGeom>
          <a:solidFill>
            <a:srgbClr val="8C1B45"/>
          </a:solidFill>
          <a:ln cap="flat" cmpd="sng" w="12700">
            <a:solidFill>
              <a:srgbClr val="8C1B45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4" name="Google Shape;84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00600" y="361188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6"/>
          <p:cNvSpPr/>
          <p:nvPr/>
        </p:nvSpPr>
        <p:spPr>
          <a:xfrm>
            <a:off x="5257800" y="3410712"/>
            <a:ext cx="3383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GB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 Validation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6"/>
          <p:cNvSpPr/>
          <p:nvPr/>
        </p:nvSpPr>
        <p:spPr>
          <a:xfrm>
            <a:off x="5257800" y="3730752"/>
            <a:ext cx="33834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D0DF"/>
              </a:buClr>
              <a:buSzPts val="1100"/>
              <a:buFont typeface="Calibri"/>
              <a:buNone/>
            </a:pPr>
            <a:r>
              <a:rPr b="0" i="0" lang="en-GB" sz="1100" u="none" cap="none" strike="noStrike">
                <a:solidFill>
                  <a:srgbClr val="F5D0DF"/>
                </a:solidFill>
                <a:latin typeface="Calibri"/>
                <a:ea typeface="Calibri"/>
                <a:cs typeface="Calibri"/>
                <a:sym typeface="Calibri"/>
              </a:rPr>
              <a:t>App crashes 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D0DF"/>
              </a:buClr>
              <a:buSzPts val="1100"/>
              <a:buFont typeface="Calibri"/>
              <a:buNone/>
            </a:pPr>
            <a:r>
              <a:rPr b="0" i="0" lang="en-GB" sz="1100" u="none" cap="none" strike="noStrike">
                <a:solidFill>
                  <a:srgbClr val="F5D0DF"/>
                </a:solidFill>
                <a:latin typeface="Calibri"/>
                <a:ea typeface="Calibri"/>
                <a:cs typeface="Calibri"/>
                <a:sym typeface="Calibri"/>
              </a:rPr>
              <a:t>bad input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6"/>
          <p:cNvSpPr/>
          <p:nvPr/>
        </p:nvSpPr>
        <p:spPr>
          <a:xfrm>
            <a:off x="0" y="4892040"/>
            <a:ext cx="91440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800"/>
              <a:buFont typeface="Calibri"/>
              <a:buNone/>
            </a:pPr>
            <a:r>
              <a:rPr b="0" i="0" lang="en-GB" sz="8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ITM Skills University | B.Tech CSE 2025-29 | Case Study 88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7"/>
          <p:cNvSpPr/>
          <p:nvPr/>
        </p:nvSpPr>
        <p:spPr>
          <a:xfrm>
            <a:off x="0" y="0"/>
            <a:ext cx="9144000" cy="822900"/>
          </a:xfrm>
          <a:prstGeom prst="rect">
            <a:avLst/>
          </a:prstGeom>
          <a:solidFill>
            <a:srgbClr val="8C1B45"/>
          </a:solidFill>
          <a:ln cap="flat" cmpd="sng" w="12700">
            <a:solidFill>
              <a:srgbClr val="8C1B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4" name="Google Shape;9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137160"/>
            <a:ext cx="173736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7"/>
          <p:cNvSpPr/>
          <p:nvPr/>
        </p:nvSpPr>
        <p:spPr>
          <a:xfrm>
            <a:off x="2103120" y="137160"/>
            <a:ext cx="6675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GB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Our Solution — C++ System Design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7"/>
          <p:cNvSpPr/>
          <p:nvPr/>
        </p:nvSpPr>
        <p:spPr>
          <a:xfrm>
            <a:off x="256032" y="914400"/>
            <a:ext cx="4206300" cy="1691700"/>
          </a:xfrm>
          <a:prstGeom prst="rect">
            <a:avLst/>
          </a:prstGeom>
          <a:solidFill>
            <a:srgbClr val="8C1B45"/>
          </a:solidFill>
          <a:ln cap="flat" cmpd="sng" w="12700">
            <a:solidFill>
              <a:srgbClr val="8C1B45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412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7" name="Google Shape;97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8912" y="146304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7"/>
          <p:cNvSpPr/>
          <p:nvPr/>
        </p:nvSpPr>
        <p:spPr>
          <a:xfrm>
            <a:off x="1033272" y="1078992"/>
            <a:ext cx="32919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en-GB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Client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7"/>
          <p:cNvSpPr/>
          <p:nvPr/>
        </p:nvSpPr>
        <p:spPr>
          <a:xfrm>
            <a:off x="1033272" y="1508760"/>
            <a:ext cx="32919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D4DF"/>
              </a:buClr>
              <a:buSzPts val="1200"/>
              <a:buFont typeface="Calibri"/>
              <a:buNone/>
            </a:pPr>
            <a:r>
              <a:rPr b="0" i="0" lang="en-GB" sz="1200" u="none" cap="none" strike="noStrike">
                <a:solidFill>
                  <a:srgbClr val="F2D4DF"/>
                </a:solidFill>
                <a:latin typeface="Calibri"/>
                <a:ea typeface="Calibri"/>
                <a:cs typeface="Calibri"/>
                <a:sym typeface="Calibri"/>
              </a:rPr>
              <a:t>Stores client ID (101+),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D4DF"/>
              </a:buClr>
              <a:buSzPts val="1200"/>
              <a:buFont typeface="Calibri"/>
              <a:buNone/>
            </a:pPr>
            <a:r>
              <a:rPr b="0" i="0" lang="en-GB" sz="1200" u="none" cap="none" strike="noStrike">
                <a:solidFill>
                  <a:srgbClr val="F2D4DF"/>
                </a:solidFill>
                <a:latin typeface="Calibri"/>
                <a:ea typeface="Calibri"/>
                <a:cs typeface="Calibri"/>
                <a:sym typeface="Calibri"/>
              </a:rPr>
              <a:t>name, and contact number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7"/>
          <p:cNvSpPr/>
          <p:nvPr/>
        </p:nvSpPr>
        <p:spPr>
          <a:xfrm>
            <a:off x="3547872" y="914400"/>
            <a:ext cx="914400" cy="292500"/>
          </a:xfrm>
          <a:prstGeom prst="rect">
            <a:avLst/>
          </a:prstGeom>
          <a:solidFill>
            <a:srgbClr val="6B1234"/>
          </a:solidFill>
          <a:ln cap="flat" cmpd="sng" w="12700">
            <a:solidFill>
              <a:srgbClr val="6B12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7"/>
          <p:cNvSpPr/>
          <p:nvPr/>
        </p:nvSpPr>
        <p:spPr>
          <a:xfrm>
            <a:off x="3547872" y="914400"/>
            <a:ext cx="914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C5D3"/>
              </a:buClr>
              <a:buSzPts val="900"/>
              <a:buFont typeface="Calibri"/>
              <a:buNone/>
            </a:pPr>
            <a:r>
              <a:rPr b="0" i="0" lang="en-GB" sz="900" u="none" cap="none" strike="noStrike">
                <a:solidFill>
                  <a:srgbClr val="E8C5D3"/>
                </a:solidFill>
                <a:latin typeface="Calibri"/>
                <a:ea typeface="Calibri"/>
                <a:cs typeface="Calibri"/>
                <a:sym typeface="Calibri"/>
              </a:rPr>
              <a:t>class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7"/>
          <p:cNvSpPr/>
          <p:nvPr/>
        </p:nvSpPr>
        <p:spPr>
          <a:xfrm>
            <a:off x="4663440" y="914400"/>
            <a:ext cx="4206300" cy="1691700"/>
          </a:xfrm>
          <a:prstGeom prst="rect">
            <a:avLst/>
          </a:prstGeom>
          <a:solidFill>
            <a:srgbClr val="8C1B45"/>
          </a:solidFill>
          <a:ln cap="flat" cmpd="sng" w="12700">
            <a:solidFill>
              <a:srgbClr val="8C1B45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412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3" name="Google Shape;103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46320" y="146304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7"/>
          <p:cNvSpPr/>
          <p:nvPr/>
        </p:nvSpPr>
        <p:spPr>
          <a:xfrm>
            <a:off x="5440680" y="1078992"/>
            <a:ext cx="32919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en-GB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Trip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7"/>
          <p:cNvSpPr/>
          <p:nvPr/>
        </p:nvSpPr>
        <p:spPr>
          <a:xfrm>
            <a:off x="5440680" y="1508760"/>
            <a:ext cx="32919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D4DF"/>
              </a:buClr>
              <a:buSzPts val="1200"/>
              <a:buFont typeface="Calibri"/>
              <a:buNone/>
            </a:pPr>
            <a:r>
              <a:rPr b="0" i="0" lang="en-GB" sz="1200" u="none" cap="none" strike="noStrike">
                <a:solidFill>
                  <a:srgbClr val="F2D4DF"/>
                </a:solidFill>
                <a:latin typeface="Calibri"/>
                <a:ea typeface="Calibri"/>
                <a:cs typeface="Calibri"/>
                <a:sym typeface="Calibri"/>
              </a:rPr>
              <a:t>Logs trip; computes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D4DF"/>
              </a:buClr>
              <a:buSzPts val="1200"/>
              <a:buFont typeface="Calibri"/>
              <a:buNone/>
            </a:pPr>
            <a:r>
              <a:rPr b="0" i="0" lang="en-GB" sz="1200" u="none" cap="none" strike="noStrike">
                <a:solidFill>
                  <a:srgbClr val="F2D4DF"/>
                </a:solidFill>
                <a:latin typeface="Calibri"/>
                <a:ea typeface="Calibri"/>
                <a:cs typeface="Calibri"/>
                <a:sym typeface="Calibri"/>
              </a:rPr>
              <a:t>Subtotal + 18% GST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7"/>
          <p:cNvSpPr/>
          <p:nvPr/>
        </p:nvSpPr>
        <p:spPr>
          <a:xfrm>
            <a:off x="7955280" y="914400"/>
            <a:ext cx="914400" cy="292500"/>
          </a:xfrm>
          <a:prstGeom prst="rect">
            <a:avLst/>
          </a:prstGeom>
          <a:solidFill>
            <a:srgbClr val="6B1234"/>
          </a:solidFill>
          <a:ln cap="flat" cmpd="sng" w="12700">
            <a:solidFill>
              <a:srgbClr val="6B12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7"/>
          <p:cNvSpPr/>
          <p:nvPr/>
        </p:nvSpPr>
        <p:spPr>
          <a:xfrm>
            <a:off x="7955280" y="914400"/>
            <a:ext cx="914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C5D3"/>
              </a:buClr>
              <a:buSzPts val="900"/>
              <a:buFont typeface="Calibri"/>
              <a:buNone/>
            </a:pPr>
            <a:r>
              <a:rPr b="0" i="0" lang="en-GB" sz="900" u="none" cap="none" strike="noStrike">
                <a:solidFill>
                  <a:srgbClr val="E8C5D3"/>
                </a:solidFill>
                <a:latin typeface="Calibri"/>
                <a:ea typeface="Calibri"/>
                <a:cs typeface="Calibri"/>
                <a:sym typeface="Calibri"/>
              </a:rPr>
              <a:t>class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7"/>
          <p:cNvSpPr/>
          <p:nvPr/>
        </p:nvSpPr>
        <p:spPr>
          <a:xfrm>
            <a:off x="256032" y="2788920"/>
            <a:ext cx="4206300" cy="1691700"/>
          </a:xfrm>
          <a:prstGeom prst="rect">
            <a:avLst/>
          </a:prstGeom>
          <a:solidFill>
            <a:srgbClr val="8C1B45"/>
          </a:solidFill>
          <a:ln cap="flat" cmpd="sng" w="12700">
            <a:solidFill>
              <a:srgbClr val="8C1B45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412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9" name="Google Shape;109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38912" y="333756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7"/>
          <p:cNvSpPr/>
          <p:nvPr/>
        </p:nvSpPr>
        <p:spPr>
          <a:xfrm>
            <a:off x="1033272" y="2953512"/>
            <a:ext cx="32919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en-GB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Invoice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7"/>
          <p:cNvSpPr/>
          <p:nvPr/>
        </p:nvSpPr>
        <p:spPr>
          <a:xfrm>
            <a:off x="1033272" y="3383280"/>
            <a:ext cx="32919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D4DF"/>
              </a:buClr>
              <a:buSzPts val="1200"/>
              <a:buFont typeface="Calibri"/>
              <a:buNone/>
            </a:pPr>
            <a:r>
              <a:rPr b="0" i="0" lang="en-GB" sz="1200" u="none" cap="none" strike="noStrike">
                <a:solidFill>
                  <a:srgbClr val="F2D4DF"/>
                </a:solidFill>
                <a:latin typeface="Calibri"/>
                <a:ea typeface="Calibri"/>
                <a:cs typeface="Calibri"/>
                <a:sym typeface="Calibri"/>
              </a:rPr>
              <a:t>Links Client &amp; Trip;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D4DF"/>
              </a:buClr>
              <a:buSzPts val="1200"/>
              <a:buFont typeface="Calibri"/>
              <a:buNone/>
            </a:pPr>
            <a:r>
              <a:rPr b="0" i="0" lang="en-GB" sz="1200" u="none" cap="none" strike="noStrike">
                <a:solidFill>
                  <a:srgbClr val="F2D4DF"/>
                </a:solidFill>
                <a:latin typeface="Calibri"/>
                <a:ea typeface="Calibri"/>
                <a:cs typeface="Calibri"/>
                <a:sym typeface="Calibri"/>
              </a:rPr>
              <a:t>prints &amp; saves .txt file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7"/>
          <p:cNvSpPr/>
          <p:nvPr/>
        </p:nvSpPr>
        <p:spPr>
          <a:xfrm>
            <a:off x="3547872" y="2788920"/>
            <a:ext cx="914400" cy="292500"/>
          </a:xfrm>
          <a:prstGeom prst="rect">
            <a:avLst/>
          </a:prstGeom>
          <a:solidFill>
            <a:srgbClr val="6B1234"/>
          </a:solidFill>
          <a:ln cap="flat" cmpd="sng" w="12700">
            <a:solidFill>
              <a:srgbClr val="6B12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7"/>
          <p:cNvSpPr/>
          <p:nvPr/>
        </p:nvSpPr>
        <p:spPr>
          <a:xfrm>
            <a:off x="3547872" y="2788920"/>
            <a:ext cx="914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C5D3"/>
              </a:buClr>
              <a:buSzPts val="900"/>
              <a:buFont typeface="Calibri"/>
              <a:buNone/>
            </a:pPr>
            <a:r>
              <a:rPr b="0" i="0" lang="en-GB" sz="900" u="none" cap="none" strike="noStrike">
                <a:solidFill>
                  <a:srgbClr val="E8C5D3"/>
                </a:solidFill>
                <a:latin typeface="Calibri"/>
                <a:ea typeface="Calibri"/>
                <a:cs typeface="Calibri"/>
                <a:sym typeface="Calibri"/>
              </a:rPr>
              <a:t>class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7"/>
          <p:cNvSpPr/>
          <p:nvPr/>
        </p:nvSpPr>
        <p:spPr>
          <a:xfrm>
            <a:off x="4663440" y="2788920"/>
            <a:ext cx="4206300" cy="1691700"/>
          </a:xfrm>
          <a:prstGeom prst="rect">
            <a:avLst/>
          </a:prstGeom>
          <a:solidFill>
            <a:srgbClr val="8C1B45"/>
          </a:solidFill>
          <a:ln cap="flat" cmpd="sng" w="12700">
            <a:solidFill>
              <a:srgbClr val="8C1B45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412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5" name="Google Shape;115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846320" y="333756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7"/>
          <p:cNvSpPr/>
          <p:nvPr/>
        </p:nvSpPr>
        <p:spPr>
          <a:xfrm>
            <a:off x="5440680" y="2953512"/>
            <a:ext cx="32919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en-GB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Payment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7"/>
          <p:cNvSpPr/>
          <p:nvPr/>
        </p:nvSpPr>
        <p:spPr>
          <a:xfrm>
            <a:off x="5440680" y="3383280"/>
            <a:ext cx="32919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D4DF"/>
              </a:buClr>
              <a:buSzPts val="1200"/>
              <a:buFont typeface="Calibri"/>
              <a:buNone/>
            </a:pPr>
            <a:r>
              <a:rPr b="0" i="0" lang="en-GB" sz="1200" u="none" cap="none" strike="noStrike">
                <a:solidFill>
                  <a:srgbClr val="F2D4DF"/>
                </a:solidFill>
                <a:latin typeface="Calibri"/>
                <a:ea typeface="Calibri"/>
                <a:cs typeface="Calibri"/>
                <a:sym typeface="Calibri"/>
              </a:rPr>
              <a:t>Processes payment;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D4DF"/>
              </a:buClr>
              <a:buSzPts val="1200"/>
              <a:buFont typeface="Calibri"/>
              <a:buNone/>
            </a:pPr>
            <a:r>
              <a:rPr b="0" i="0" lang="en-GB" sz="1200" u="none" cap="none" strike="noStrike">
                <a:solidFill>
                  <a:srgbClr val="F2D4DF"/>
                </a:solidFill>
                <a:latin typeface="Calibri"/>
                <a:ea typeface="Calibri"/>
                <a:cs typeface="Calibri"/>
                <a:sym typeface="Calibri"/>
              </a:rPr>
              <a:t>calculates change, PAID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7"/>
          <p:cNvSpPr/>
          <p:nvPr/>
        </p:nvSpPr>
        <p:spPr>
          <a:xfrm>
            <a:off x="7955280" y="2788920"/>
            <a:ext cx="914400" cy="292500"/>
          </a:xfrm>
          <a:prstGeom prst="rect">
            <a:avLst/>
          </a:prstGeom>
          <a:solidFill>
            <a:srgbClr val="6B1234"/>
          </a:solidFill>
          <a:ln cap="flat" cmpd="sng" w="12700">
            <a:solidFill>
              <a:srgbClr val="6B12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7"/>
          <p:cNvSpPr/>
          <p:nvPr/>
        </p:nvSpPr>
        <p:spPr>
          <a:xfrm>
            <a:off x="7955280" y="2788920"/>
            <a:ext cx="914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C5D3"/>
              </a:buClr>
              <a:buSzPts val="900"/>
              <a:buFont typeface="Calibri"/>
              <a:buNone/>
            </a:pPr>
            <a:r>
              <a:rPr b="0" i="0" lang="en-GB" sz="900" u="none" cap="none" strike="noStrike">
                <a:solidFill>
                  <a:srgbClr val="E8C5D3"/>
                </a:solidFill>
                <a:latin typeface="Calibri"/>
                <a:ea typeface="Calibri"/>
                <a:cs typeface="Calibri"/>
                <a:sym typeface="Calibri"/>
              </a:rPr>
              <a:t>class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7"/>
          <p:cNvSpPr/>
          <p:nvPr/>
        </p:nvSpPr>
        <p:spPr>
          <a:xfrm>
            <a:off x="0" y="4892040"/>
            <a:ext cx="91440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800"/>
              <a:buFont typeface="Calibri"/>
              <a:buNone/>
            </a:pPr>
            <a:r>
              <a:rPr b="0" i="0" lang="en-GB" sz="8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ITM Skills University | B.Tech CSE 2025-29 | Case Study 88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8"/>
          <p:cNvSpPr/>
          <p:nvPr/>
        </p:nvSpPr>
        <p:spPr>
          <a:xfrm>
            <a:off x="0" y="0"/>
            <a:ext cx="9144000" cy="822900"/>
          </a:xfrm>
          <a:prstGeom prst="rect">
            <a:avLst/>
          </a:prstGeom>
          <a:solidFill>
            <a:srgbClr val="8C1B45"/>
          </a:solidFill>
          <a:ln cap="flat" cmpd="sng" w="12700">
            <a:solidFill>
              <a:srgbClr val="8C1B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7" name="Google Shape;12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137160"/>
            <a:ext cx="173736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8"/>
          <p:cNvSpPr/>
          <p:nvPr/>
        </p:nvSpPr>
        <p:spPr>
          <a:xfrm>
            <a:off x="2103120" y="137160"/>
            <a:ext cx="6675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GB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Working: Methods &amp; Implementation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8"/>
          <p:cNvSpPr/>
          <p:nvPr/>
        </p:nvSpPr>
        <p:spPr>
          <a:xfrm>
            <a:off x="256032" y="914400"/>
            <a:ext cx="4114800" cy="1920300"/>
          </a:xfrm>
          <a:prstGeom prst="rect">
            <a:avLst/>
          </a:prstGeom>
          <a:solidFill>
            <a:srgbClr val="F4F4F4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18"/>
          <p:cNvSpPr/>
          <p:nvPr/>
        </p:nvSpPr>
        <p:spPr>
          <a:xfrm>
            <a:off x="347472" y="960120"/>
            <a:ext cx="3931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1B45"/>
              </a:buClr>
              <a:buSzPts val="1300"/>
              <a:buFont typeface="Calibri"/>
              <a:buNone/>
            </a:pPr>
            <a:r>
              <a:rPr b="1" i="0" lang="en-GB" sz="1300" u="none" cap="none" strike="noStrike">
                <a:solidFill>
                  <a:srgbClr val="8C1B45"/>
                </a:solidFill>
                <a:latin typeface="Calibri"/>
                <a:ea typeface="Calibri"/>
                <a:cs typeface="Calibri"/>
                <a:sym typeface="Calibri"/>
              </a:rPr>
              <a:t>Billing Formula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8"/>
          <p:cNvSpPr/>
          <p:nvPr/>
        </p:nvSpPr>
        <p:spPr>
          <a:xfrm>
            <a:off x="347472" y="1316736"/>
            <a:ext cx="3931800" cy="54900"/>
          </a:xfrm>
          <a:prstGeom prst="rect">
            <a:avLst/>
          </a:prstGeom>
          <a:solidFill>
            <a:srgbClr val="8C1B45"/>
          </a:solidFill>
          <a:ln cap="flat" cmpd="sng" w="12700">
            <a:solidFill>
              <a:srgbClr val="8C1B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8"/>
          <p:cNvSpPr/>
          <p:nvPr/>
        </p:nvSpPr>
        <p:spPr>
          <a:xfrm>
            <a:off x="347472" y="1417320"/>
            <a:ext cx="3931800" cy="132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200"/>
              <a:buFont typeface="Calibri"/>
              <a:buNone/>
            </a:pPr>
            <a:r>
              <a:rPr b="1" i="0" lang="en-GB" sz="1200" u="none" cap="none" strike="noStrike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Subtotal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Calibri"/>
              <a:buNone/>
            </a:pPr>
            <a:r>
              <a:rPr b="0" i="0" lang="en-GB" sz="12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 = </a:t>
            </a:r>
            <a:r>
              <a:rPr lang="en-GB" sz="12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Base Fare</a:t>
            </a:r>
            <a:r>
              <a:rPr b="0" i="0" lang="en-GB" sz="12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 + (km × rate) + extra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200"/>
              <a:buFont typeface="Calibri"/>
              <a:buNone/>
            </a:pPr>
            <a:r>
              <a:rPr b="1" i="0" lang="en-GB" sz="1200" u="none" cap="none" strike="noStrike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GST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Calibri"/>
              <a:buNone/>
            </a:pPr>
            <a:r>
              <a:rPr b="0" i="0" lang="en-GB" sz="12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 = Subtotal × 0.18 (18%)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200"/>
              <a:buFont typeface="Calibri"/>
              <a:buNone/>
            </a:pPr>
            <a:r>
              <a:rPr b="1" i="0" lang="en-GB" sz="1200" u="none" cap="none" strike="noStrike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Total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Calibri"/>
              <a:buNone/>
            </a:pPr>
            <a:r>
              <a:rPr b="0" i="0" lang="en-GB" sz="12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 = Subtotal + GST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8"/>
          <p:cNvSpPr/>
          <p:nvPr/>
        </p:nvSpPr>
        <p:spPr>
          <a:xfrm>
            <a:off x="256032" y="2926080"/>
            <a:ext cx="4114800" cy="1691700"/>
          </a:xfrm>
          <a:prstGeom prst="rect">
            <a:avLst/>
          </a:prstGeom>
          <a:solidFill>
            <a:srgbClr val="F5E8ED"/>
          </a:solidFill>
          <a:ln cap="flat" cmpd="sng" w="12700">
            <a:solidFill>
              <a:srgbClr val="E8C5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8"/>
          <p:cNvSpPr/>
          <p:nvPr/>
        </p:nvSpPr>
        <p:spPr>
          <a:xfrm>
            <a:off x="347472" y="2971800"/>
            <a:ext cx="3931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1B45"/>
              </a:buClr>
              <a:buSzPts val="1300"/>
              <a:buFont typeface="Calibri"/>
              <a:buNone/>
            </a:pPr>
            <a:r>
              <a:rPr b="1" i="0" lang="en-GB" sz="1300" u="none" cap="none" strike="noStrike">
                <a:solidFill>
                  <a:srgbClr val="8C1B45"/>
                </a:solidFill>
                <a:latin typeface="Calibri"/>
                <a:ea typeface="Calibri"/>
                <a:cs typeface="Calibri"/>
                <a:sym typeface="Calibri"/>
              </a:rPr>
              <a:t>File Handling (ofstream)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8"/>
          <p:cNvSpPr/>
          <p:nvPr/>
        </p:nvSpPr>
        <p:spPr>
          <a:xfrm>
            <a:off x="347472" y="3364992"/>
            <a:ext cx="3886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Calibri"/>
              <a:buChar char="•"/>
            </a:pPr>
            <a:r>
              <a:rPr b="0" i="0" lang="en-GB" sz="12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Invoice_1001.txt saved at generation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Calibri"/>
              <a:buChar char="•"/>
            </a:pPr>
            <a:r>
              <a:rPr b="0" i="0" lang="en-GB" sz="12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Re-saved after payment → STATUS: PAID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Calibri"/>
              <a:buChar char="•"/>
            </a:pPr>
            <a:r>
              <a:rPr b="0" i="0" lang="en-GB" sz="12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Persists across program sessions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8"/>
          <p:cNvSpPr/>
          <p:nvPr/>
        </p:nvSpPr>
        <p:spPr>
          <a:xfrm>
            <a:off x="4663440" y="914400"/>
            <a:ext cx="4206300" cy="1691700"/>
          </a:xfrm>
          <a:prstGeom prst="rect">
            <a:avLst/>
          </a:prstGeom>
          <a:solidFill>
            <a:srgbClr val="8C1B45"/>
          </a:solidFill>
          <a:ln cap="flat" cmpd="sng" w="12700">
            <a:solidFill>
              <a:srgbClr val="8C1B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8"/>
          <p:cNvSpPr/>
          <p:nvPr/>
        </p:nvSpPr>
        <p:spPr>
          <a:xfrm>
            <a:off x="4754880" y="960120"/>
            <a:ext cx="4023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GB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OOP Concepts Applied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8"/>
          <p:cNvSpPr/>
          <p:nvPr/>
        </p:nvSpPr>
        <p:spPr>
          <a:xfrm>
            <a:off x="4754880" y="1371600"/>
            <a:ext cx="40233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2D4DF"/>
              </a:buClr>
              <a:buSzPts val="1150"/>
              <a:buFont typeface="Calibri"/>
              <a:buChar char="•"/>
            </a:pPr>
            <a:r>
              <a:rPr b="0" i="0" lang="en-GB" sz="1150" u="none" cap="none" strike="noStrike">
                <a:solidFill>
                  <a:srgbClr val="F2D4DF"/>
                </a:solidFill>
                <a:latin typeface="Calibri"/>
                <a:ea typeface="Calibri"/>
                <a:cs typeface="Calibri"/>
                <a:sym typeface="Calibri"/>
              </a:rPr>
              <a:t>Encapsulation — private data, const getters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2D4DF"/>
              </a:buClr>
              <a:buSzPts val="1150"/>
              <a:buFont typeface="Calibri"/>
              <a:buChar char="•"/>
            </a:pPr>
            <a:r>
              <a:rPr b="0" i="0" lang="en-GB" sz="1150" u="none" cap="none" strike="noStrike">
                <a:solidFill>
                  <a:srgbClr val="F2D4DF"/>
                </a:solidFill>
                <a:latin typeface="Calibri"/>
                <a:ea typeface="Calibri"/>
                <a:cs typeface="Calibri"/>
                <a:sym typeface="Calibri"/>
              </a:rPr>
              <a:t>Abstraction — billing inside Trip class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2D4DF"/>
              </a:buClr>
              <a:buSzPts val="1150"/>
              <a:buFont typeface="Calibri"/>
              <a:buChar char="•"/>
            </a:pPr>
            <a:r>
              <a:rPr b="0" i="0" lang="en-GB" sz="1150" u="none" cap="none" strike="noStrike">
                <a:solidFill>
                  <a:srgbClr val="F2D4DF"/>
                </a:solidFill>
                <a:latin typeface="Calibri"/>
                <a:ea typeface="Calibri"/>
                <a:cs typeface="Calibri"/>
                <a:sym typeface="Calibri"/>
              </a:rPr>
              <a:t>Dynamic memory — new/delete with vectors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2D4DF"/>
              </a:buClr>
              <a:buSzPts val="1150"/>
              <a:buFont typeface="Calibri"/>
              <a:buChar char="•"/>
            </a:pPr>
            <a:r>
              <a:rPr b="0" i="0" lang="en-GB" sz="1150" u="none" cap="none" strike="noStrike">
                <a:solidFill>
                  <a:srgbClr val="F2D4DF"/>
                </a:solidFill>
                <a:latin typeface="Calibri"/>
                <a:ea typeface="Calibri"/>
                <a:cs typeface="Calibri"/>
                <a:sym typeface="Calibri"/>
              </a:rPr>
              <a:t>STL vectors for all 4 object stores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8"/>
          <p:cNvSpPr/>
          <p:nvPr/>
        </p:nvSpPr>
        <p:spPr>
          <a:xfrm>
            <a:off x="4663440" y="2743200"/>
            <a:ext cx="4206300" cy="1874400"/>
          </a:xfrm>
          <a:prstGeom prst="rect">
            <a:avLst/>
          </a:prstGeom>
          <a:solidFill>
            <a:srgbClr val="F4F4F4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8"/>
          <p:cNvSpPr/>
          <p:nvPr/>
        </p:nvSpPr>
        <p:spPr>
          <a:xfrm>
            <a:off x="4754880" y="2788920"/>
            <a:ext cx="4023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1B45"/>
              </a:buClr>
              <a:buSzPts val="1300"/>
              <a:buFont typeface="Calibri"/>
              <a:buNone/>
            </a:pPr>
            <a:r>
              <a:rPr b="1" i="0" lang="en-GB" sz="1300" u="none" cap="none" strike="noStrike">
                <a:solidFill>
                  <a:srgbClr val="8C1B45"/>
                </a:solidFill>
                <a:latin typeface="Calibri"/>
                <a:ea typeface="Calibri"/>
                <a:cs typeface="Calibri"/>
                <a:sym typeface="Calibri"/>
              </a:rPr>
              <a:t>Input Validation + Tech Stack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8"/>
          <p:cNvSpPr/>
          <p:nvPr/>
        </p:nvSpPr>
        <p:spPr>
          <a:xfrm>
            <a:off x="4754880" y="3200400"/>
            <a:ext cx="39777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50"/>
              <a:buFont typeface="Calibri"/>
              <a:buChar char="•"/>
            </a:pPr>
            <a:r>
              <a:rPr b="0" i="0" lang="en-GB" sz="115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getNumber() — cin.fail() + cin.clear()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50"/>
              <a:buFont typeface="Calibri"/>
              <a:buChar char="•"/>
            </a:pPr>
            <a:r>
              <a:rPr b="0" i="0" lang="en-GB" sz="115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Language: C++ (C++17)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50"/>
              <a:buFont typeface="Calibri"/>
              <a:buChar char="•"/>
            </a:pPr>
            <a:r>
              <a:rPr b="0" i="0" lang="en-GB" sz="115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Libs: &lt;iostream&gt; &lt;fstream&gt; &lt;vector&gt; &lt;iomanip&gt;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50"/>
              <a:buFont typeface="Calibri"/>
              <a:buChar char="•"/>
            </a:pPr>
            <a:r>
              <a:rPr b="0" i="0" lang="en-GB" sz="115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Compiler: g++ | IDE: VS Code / Code::Blocks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8"/>
          <p:cNvSpPr/>
          <p:nvPr/>
        </p:nvSpPr>
        <p:spPr>
          <a:xfrm>
            <a:off x="0" y="4892040"/>
            <a:ext cx="91440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800"/>
              <a:buFont typeface="Calibri"/>
              <a:buNone/>
            </a:pPr>
            <a:r>
              <a:rPr b="0" i="0" lang="en-GB" sz="8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ITM Skills University | B.Tech CSE 2025-29 | Case Study 88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9"/>
          <p:cNvSpPr/>
          <p:nvPr/>
        </p:nvSpPr>
        <p:spPr>
          <a:xfrm>
            <a:off x="0" y="0"/>
            <a:ext cx="9144000" cy="822900"/>
          </a:xfrm>
          <a:prstGeom prst="rect">
            <a:avLst/>
          </a:prstGeom>
          <a:solidFill>
            <a:srgbClr val="8C1B45"/>
          </a:solidFill>
          <a:ln cap="flat" cmpd="sng" w="12700">
            <a:solidFill>
              <a:srgbClr val="8C1B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9" name="Google Shape;14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137160"/>
            <a:ext cx="173736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9"/>
          <p:cNvSpPr/>
          <p:nvPr/>
        </p:nvSpPr>
        <p:spPr>
          <a:xfrm>
            <a:off x="2103120" y="137160"/>
            <a:ext cx="64008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GB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9"/>
          <p:cNvSpPr/>
          <p:nvPr/>
        </p:nvSpPr>
        <p:spPr>
          <a:xfrm>
            <a:off x="256032" y="960120"/>
            <a:ext cx="2816400" cy="2377500"/>
          </a:xfrm>
          <a:prstGeom prst="rect">
            <a:avLst/>
          </a:prstGeom>
          <a:solidFill>
            <a:srgbClr val="8C1B45"/>
          </a:solidFill>
          <a:ln cap="flat" cmpd="sng" w="12700">
            <a:solidFill>
              <a:srgbClr val="8C1B45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29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2" name="Google Shape;152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25880" y="1097280"/>
            <a:ext cx="6400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9"/>
          <p:cNvSpPr/>
          <p:nvPr/>
        </p:nvSpPr>
        <p:spPr>
          <a:xfrm>
            <a:off x="365760" y="1828800"/>
            <a:ext cx="25968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GB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Automated Billing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9"/>
          <p:cNvSpPr/>
          <p:nvPr/>
        </p:nvSpPr>
        <p:spPr>
          <a:xfrm>
            <a:off x="365760" y="2286000"/>
            <a:ext cx="2596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D4DF"/>
              </a:buClr>
              <a:buSzPts val="1100"/>
              <a:buFont typeface="Calibri"/>
              <a:buNone/>
            </a:pPr>
            <a:r>
              <a:rPr b="0" i="0" lang="en-GB" sz="1100" u="none" cap="none" strike="noStrike">
                <a:solidFill>
                  <a:srgbClr val="F2D4DF"/>
                </a:solidFill>
                <a:latin typeface="Calibri"/>
                <a:ea typeface="Calibri"/>
                <a:cs typeface="Calibri"/>
                <a:sym typeface="Calibri"/>
              </a:rPr>
              <a:t>Eliminates manual calculation errors with precise GST-inclusive invoices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9"/>
          <p:cNvSpPr/>
          <p:nvPr/>
        </p:nvSpPr>
        <p:spPr>
          <a:xfrm>
            <a:off x="3218688" y="960120"/>
            <a:ext cx="2816400" cy="2377500"/>
          </a:xfrm>
          <a:prstGeom prst="rect">
            <a:avLst/>
          </a:prstGeom>
          <a:solidFill>
            <a:srgbClr val="8C1B45"/>
          </a:solidFill>
          <a:ln cap="flat" cmpd="sng" w="12700">
            <a:solidFill>
              <a:srgbClr val="8C1B45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29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6" name="Google Shape;156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88536" y="1097280"/>
            <a:ext cx="6400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9"/>
          <p:cNvSpPr/>
          <p:nvPr/>
        </p:nvSpPr>
        <p:spPr>
          <a:xfrm>
            <a:off x="3328416" y="1828800"/>
            <a:ext cx="25968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GB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Persistent Records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9"/>
          <p:cNvSpPr/>
          <p:nvPr/>
        </p:nvSpPr>
        <p:spPr>
          <a:xfrm>
            <a:off x="3328416" y="2286000"/>
            <a:ext cx="2596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D4DF"/>
              </a:buClr>
              <a:buSzPts val="1100"/>
              <a:buFont typeface="Calibri"/>
              <a:buNone/>
            </a:pPr>
            <a:r>
              <a:rPr b="0" i="0" lang="en-GB" sz="1100" u="none" cap="none" strike="noStrike">
                <a:solidFill>
                  <a:srgbClr val="F2D4DF"/>
                </a:solidFill>
                <a:latin typeface="Calibri"/>
                <a:ea typeface="Calibri"/>
                <a:cs typeface="Calibri"/>
                <a:sym typeface="Calibri"/>
              </a:rPr>
              <a:t>Invoice files saved and updated; STATUS reflects real payment state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9"/>
          <p:cNvSpPr/>
          <p:nvPr/>
        </p:nvSpPr>
        <p:spPr>
          <a:xfrm>
            <a:off x="6181344" y="960120"/>
            <a:ext cx="2816400" cy="2377500"/>
          </a:xfrm>
          <a:prstGeom prst="rect">
            <a:avLst/>
          </a:prstGeom>
          <a:solidFill>
            <a:srgbClr val="8C1B45"/>
          </a:solidFill>
          <a:ln cap="flat" cmpd="sng" w="12700">
            <a:solidFill>
              <a:srgbClr val="8C1B45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29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0" name="Google Shape;160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251192" y="1097280"/>
            <a:ext cx="6400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9"/>
          <p:cNvSpPr/>
          <p:nvPr/>
        </p:nvSpPr>
        <p:spPr>
          <a:xfrm>
            <a:off x="6291072" y="1828800"/>
            <a:ext cx="25968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GB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OOP Demonstrated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9"/>
          <p:cNvSpPr/>
          <p:nvPr/>
        </p:nvSpPr>
        <p:spPr>
          <a:xfrm>
            <a:off x="6291072" y="2286000"/>
            <a:ext cx="2596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D4DF"/>
              </a:buClr>
              <a:buSzPts val="1100"/>
              <a:buFont typeface="Calibri"/>
              <a:buNone/>
            </a:pPr>
            <a:r>
              <a:rPr b="0" i="0" lang="en-GB" sz="1100" u="none" cap="none" strike="noStrike">
                <a:solidFill>
                  <a:srgbClr val="F2D4DF"/>
                </a:solidFill>
                <a:latin typeface="Calibri"/>
                <a:ea typeface="Calibri"/>
                <a:cs typeface="Calibri"/>
                <a:sym typeface="Calibri"/>
              </a:rPr>
              <a:t>4 classes, encapsulation, abstraction, and dynamic memory in practice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9"/>
          <p:cNvSpPr/>
          <p:nvPr/>
        </p:nvSpPr>
        <p:spPr>
          <a:xfrm>
            <a:off x="256032" y="3474720"/>
            <a:ext cx="8631900" cy="1280100"/>
          </a:xfrm>
          <a:prstGeom prst="rect">
            <a:avLst/>
          </a:prstGeom>
          <a:solidFill>
            <a:srgbClr val="F4F4F4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9"/>
          <p:cNvSpPr/>
          <p:nvPr/>
        </p:nvSpPr>
        <p:spPr>
          <a:xfrm>
            <a:off x="411480" y="3547872"/>
            <a:ext cx="8321100" cy="111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50"/>
              <a:buFont typeface="Calibri"/>
              <a:buNone/>
            </a:pPr>
            <a:r>
              <a:rPr b="0" i="0" lang="en-GB" sz="125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This case study demonstrates a complete C++ application covering the full billing lifecycle — client registration, trip logging, GST billing, invoice file generation, and payment processing — using OOP principles in a coherent, menu-driven console application.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9"/>
          <p:cNvSpPr/>
          <p:nvPr/>
        </p:nvSpPr>
        <p:spPr>
          <a:xfrm>
            <a:off x="0" y="4892040"/>
            <a:ext cx="91440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800"/>
              <a:buFont typeface="Calibri"/>
              <a:buNone/>
            </a:pPr>
            <a:r>
              <a:rPr b="0" i="0" lang="en-GB" sz="8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ITM Skills University | B.Tech CSE 2025-29 | Case Study 88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81B50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GB">
                <a:solidFill>
                  <a:schemeClr val="lt1"/>
                </a:solidFill>
              </a:rPr>
              <a:t>Thank You</a:t>
            </a:r>
            <a:endParaRPr b="1">
              <a:solidFill>
                <a:schemeClr val="lt1"/>
              </a:solidFill>
            </a:endParaRPr>
          </a:p>
        </p:txBody>
      </p:sp>
      <p:pic>
        <p:nvPicPr>
          <p:cNvPr id="171" name="Google Shape;171;p20" title="download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62238" y="942350"/>
            <a:ext cx="3819525" cy="120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